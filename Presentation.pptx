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TT Octosquares Compressed" charset="1" panose="02010001040000080307"/>
      <p:regular r:id="rId28"/>
    </p:embeddedFont>
    <p:embeddedFont>
      <p:font typeface="Canva Sans" charset="1" panose="020B0503030501040103"/>
      <p:regular r:id="rId29"/>
    </p:embeddedFont>
    <p:embeddedFont>
      <p:font typeface="TT Octosquares Compressed Bold" charset="1" panose="02010001040000080307"/>
      <p:regular r:id="rId30"/>
    </p:embeddedFont>
    <p:embeddedFont>
      <p:font typeface="Poppins" charset="1" panose="00000500000000000000"/>
      <p:regular r:id="rId31"/>
    </p:embeddedFont>
    <p:embeddedFont>
      <p:font typeface="Open Sans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2972" y="439904"/>
            <a:ext cx="253149" cy="354280"/>
          </a:xfrm>
          <a:custGeom>
            <a:avLst/>
            <a:gdLst/>
            <a:ahLst/>
            <a:cxnLst/>
            <a:rect r="r" b="b" t="t" l="l"/>
            <a:pathLst>
              <a:path h="354280" w="253149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926954" y="4189844"/>
            <a:ext cx="1218296" cy="1907312"/>
          </a:xfrm>
          <a:custGeom>
            <a:avLst/>
            <a:gdLst/>
            <a:ahLst/>
            <a:cxnLst/>
            <a:rect r="r" b="b" t="t" l="l"/>
            <a:pathLst>
              <a:path h="1907312" w="1218296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2111" y="4471286"/>
            <a:ext cx="858754" cy="1344429"/>
          </a:xfrm>
          <a:custGeom>
            <a:avLst/>
            <a:gdLst/>
            <a:ahLst/>
            <a:cxnLst/>
            <a:rect r="r" b="b" t="t" l="l"/>
            <a:pathLst>
              <a:path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9546" y="4650573"/>
            <a:ext cx="629715" cy="985855"/>
          </a:xfrm>
          <a:custGeom>
            <a:avLst/>
            <a:gdLst/>
            <a:ahLst/>
            <a:cxnLst/>
            <a:rect r="r" b="b" t="t" l="l"/>
            <a:pathLst>
              <a:path h="985855" w="629715">
                <a:moveTo>
                  <a:pt x="0" y="0"/>
                </a:moveTo>
                <a:lnTo>
                  <a:pt x="629715" y="0"/>
                </a:lnTo>
                <a:lnTo>
                  <a:pt x="629715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4711975" y="4189844"/>
            <a:ext cx="1218296" cy="1907312"/>
          </a:xfrm>
          <a:custGeom>
            <a:avLst/>
            <a:gdLst/>
            <a:ahLst/>
            <a:cxnLst/>
            <a:rect r="r" b="b" t="t" l="l"/>
            <a:pathLst>
              <a:path h="1907312" w="1218296">
                <a:moveTo>
                  <a:pt x="0" y="0"/>
                </a:moveTo>
                <a:lnTo>
                  <a:pt x="1218296" y="0"/>
                </a:lnTo>
                <a:lnTo>
                  <a:pt x="1218296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5770831" y="4471286"/>
            <a:ext cx="858754" cy="1344429"/>
          </a:xfrm>
          <a:custGeom>
            <a:avLst/>
            <a:gdLst/>
            <a:ahLst/>
            <a:cxnLst/>
            <a:rect r="r" b="b" t="t" l="l"/>
            <a:pathLst>
              <a:path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6629585" y="4650573"/>
            <a:ext cx="629715" cy="985855"/>
          </a:xfrm>
          <a:custGeom>
            <a:avLst/>
            <a:gdLst/>
            <a:ahLst/>
            <a:cxnLst/>
            <a:rect r="r" b="b" t="t" l="l"/>
            <a:pathLst>
              <a:path h="985855" w="629715">
                <a:moveTo>
                  <a:pt x="0" y="0"/>
                </a:moveTo>
                <a:lnTo>
                  <a:pt x="629715" y="0"/>
                </a:lnTo>
                <a:lnTo>
                  <a:pt x="629715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88035" y="3787808"/>
            <a:ext cx="10128615" cy="302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09"/>
              </a:lnSpc>
            </a:pPr>
            <a:r>
              <a:rPr lang="en-US" sz="8649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Cybersecurity Organization &amp; </a:t>
            </a:r>
          </a:p>
          <a:p>
            <a:pPr algn="ctr">
              <a:lnSpc>
                <a:spcPts val="12109"/>
              </a:lnSpc>
              <a:spcBef>
                <a:spcPct val="0"/>
              </a:spcBef>
            </a:pPr>
            <a:r>
              <a:rPr lang="en-US" sz="8649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Strategy for International Bank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39994" y="7677487"/>
            <a:ext cx="9808012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Security Structure, Key Roles, Performance Metrics &amp; Policy Implementation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March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8333184" cy="824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5"/>
              </a:lnSpc>
              <a:spcBef>
                <a:spcPct val="0"/>
              </a:spcBef>
            </a:pPr>
            <a:r>
              <a:rPr lang="en-US" b="true" sz="6468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Team Members:</a:t>
            </a:r>
          </a:p>
          <a:p>
            <a:pPr algn="l">
              <a:lnSpc>
                <a:spcPts val="8075"/>
              </a:lnSpc>
              <a:spcBef>
                <a:spcPct val="0"/>
              </a:spcBef>
            </a:pPr>
            <a:r>
              <a:rPr lang="en-US" b="true" sz="5768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1 . B. KULA DEEPTHI</a:t>
            </a:r>
          </a:p>
          <a:p>
            <a:pPr algn="l">
              <a:lnSpc>
                <a:spcPts val="8075"/>
              </a:lnSpc>
              <a:spcBef>
                <a:spcPct val="0"/>
              </a:spcBef>
            </a:pPr>
            <a:r>
              <a:rPr lang="en-US" b="true" sz="5768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2 . RAKSHIT VERMA</a:t>
            </a:r>
          </a:p>
          <a:p>
            <a:pPr algn="l">
              <a:lnSpc>
                <a:spcPts val="8075"/>
              </a:lnSpc>
              <a:spcBef>
                <a:spcPct val="0"/>
              </a:spcBef>
            </a:pPr>
            <a:r>
              <a:rPr lang="en-US" b="true" sz="5768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3 . KAMAL NAYAN KUMAR</a:t>
            </a:r>
          </a:p>
          <a:p>
            <a:pPr algn="l">
              <a:lnSpc>
                <a:spcPts val="8075"/>
              </a:lnSpc>
              <a:spcBef>
                <a:spcPct val="0"/>
              </a:spcBef>
            </a:pPr>
            <a:r>
              <a:rPr lang="en-US" b="true" sz="5768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4 . SHIVANSH SHUKLA</a:t>
            </a:r>
          </a:p>
          <a:p>
            <a:pPr algn="l">
              <a:lnSpc>
                <a:spcPts val="8075"/>
              </a:lnSpc>
              <a:spcBef>
                <a:spcPct val="0"/>
              </a:spcBef>
            </a:pPr>
            <a:r>
              <a:rPr lang="en-US" b="true" sz="5768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5 . BABHALE ROHAN LAXMIKANT</a:t>
            </a:r>
          </a:p>
          <a:p>
            <a:pPr algn="l">
              <a:lnSpc>
                <a:spcPts val="8075"/>
              </a:lnSpc>
              <a:spcBef>
                <a:spcPct val="0"/>
              </a:spcBef>
            </a:pPr>
            <a:r>
              <a:rPr lang="en-US" b="true" sz="5768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6 . PRAKHAR</a:t>
            </a:r>
          </a:p>
          <a:p>
            <a:pPr algn="l">
              <a:lnSpc>
                <a:spcPts val="80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4435683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Why Cybersecurity is Critical for Banks?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07581"/>
            <a:ext cx="17259300" cy="529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Banks handle sensitive customer financial data.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Increasing cyber threats like phishing, malware, and ransomware.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Compliance with global and regional regulations (GDPR, PCI-DSS, SOX, etc.).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eed for secure hybrid infrastructure (legacy + cloud).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bank must establish a well-defined cybersecurity structure to balance security, compliance, and business operations.</a:t>
            </a:r>
          </a:p>
          <a:p>
            <a:pPr algn="l">
              <a:lnSpc>
                <a:spcPts val="3224"/>
              </a:lnSpc>
            </a:pP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can a Hybrid Cybersecurity Model balance global security with regional compliance?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combining centralized and decentralized approaches: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Centralized control ensures standardized policies, global threat intelligence, and strict compliance enforcement.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Decentralized flexibility allows adaptation to country-specific regulations.</a:t>
            </a:r>
          </a:p>
          <a:p>
            <a:pPr algn="l">
              <a:lnSpc>
                <a:spcPts val="3224"/>
              </a:lnSpc>
            </a:pP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11" t="0" r="-461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81500" y="3735076"/>
            <a:ext cx="13155316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Organizational Structure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3155316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Top-Level Cybersecurity Leadership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07581"/>
            <a:ext cx="13703552" cy="407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Chief Information Security Officer (CISO)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 to: CIO, Board of Directors &amp; CEO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Responsibilities: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Designs the global cybersecurity strategy and ensures alignment with business objectives.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the bank’s defense against cyber threats and financial fraud.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Ensures compliance with regulatory frameworks (PCI-DSS, GDPR, SOX, NIST, etc.).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Develops risk assessment frameworks and crisis management plans.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Regularly updates the Board of Directors on security risks and incidents.</a:t>
            </a:r>
          </a:p>
          <a:p>
            <a:pPr algn="l">
              <a:lnSpc>
                <a:spcPts val="3224"/>
              </a:lnSpc>
            </a:pP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5274544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 Security Governance &amp; Compliance (SGC)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07581"/>
            <a:ext cx="14469880" cy="366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Director of Security Compliance &amp; Risk Management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 to: CISO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Responsibilities: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Ensures compliance with banking cybersecurity laws across multiple jurisdictions (30+ regions).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ducts internal security audits, gap assessments, and regulatory reviews.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Collaborates with Legal, Risk, and Regulatory Affairs teams to ensure policy alignment.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Develops training programs and awareness initiatives for security compliance.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reates and enforces bank-wide cybersecurity policies and governance frameworks.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Threat Intelligence &amp; Incident Response (TIIR)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07581"/>
            <a:ext cx="14753532" cy="366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Global Threat Intelligence Director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 to: CISO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Responsibilities: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Monitors global cyber threats, vulnerabilities, and attack trends affecting banks.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Operates a 24/7 Security Operations Center (SOC) with regional hubs for faster incident response.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tigates security breaches, malware incidents, and unauthorized access attempts.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Coordinates with law enforcement and financial sector cybersecurity groups.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adv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anced AI-based threat detection to predict and mitigate cyber risks.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Security Architecture &amp; Engineering (SAE)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07581"/>
            <a:ext cx="13391431" cy="407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Head of Security Architecture &amp; Engineering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 to: CISO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Responsibilities: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Secures cloud applications, on-premises infrastructure, and legacy banking systems.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plements Zero Trust Architecture to minimize access risks.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secure application integration frameworks to prevent data leaks.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rsees encryption, firewalls, and endpoint security technologies.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Works 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closely with DevOps teams to implement secure software development practices.</a:t>
            </a:r>
          </a:p>
          <a:p>
            <a:pPr algn="l">
              <a:lnSpc>
                <a:spcPts val="3224"/>
              </a:lnSpc>
            </a:pP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Identity &amp; Access Management (IAM)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07581"/>
            <a:ext cx="16985917" cy="325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Director of IAM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 to: CISO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Responsibilities: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Ensures only authorized users and devices access banking systems.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plements Multi-Factor Authentication (MFA), Role-Based Access Contro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(RBAC), and biometric authentication.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rsees privileged access management (PAM) for high-level users.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Prevents in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sider threats through continuous access monitoring and AI-driven anomaly detection.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Cybersecurity Operations &amp; SOC (CSO-SOC)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07581"/>
            <a:ext cx="14433967" cy="366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Global Head of Security Operations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 to: CISO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Responsibilities: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Manages Tier-1, Tier-2, and Tier-3 SOC analysts handling security events.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eads threat hunting teams to proactively detect advanced cyber threats.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Conducts digital forensics, ma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lware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analysis, and incident response drills.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rates SIEM (Security Information and Event Management) systems for real-time monitoring.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cyber risk intell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igence reports to senior leadership.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Regional Security Officers (RSOs)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07581"/>
            <a:ext cx="12050094" cy="325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 to: CISO &amp; Regional Leadership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Responsibilities: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Implements security controls tailored to regional banking laws and regulations.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sures compliance with local data residency laws.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Liaise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with regional regulators, 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law enforceme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nt, and government agencies.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Conducts regional cyb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rsecurity risk assessments.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Manages localize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 cyber awareness train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ing for employees and customers.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30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76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Reporting Relationships &amp; Communication Channels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29656"/>
            <a:ext cx="12142555" cy="244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CISO Reports to the Board of Directors &amp; CIO.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 Governance &amp; Compliance (SGC) collaborates with Legal &amp; Risk teams.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reat Intelligence (TIIR) shares real-t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ime alert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with Security Operations.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Regional Security Officers (RSOs)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report 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CISO and regional leadership.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egular security briefings an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 threat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reports are shared with executives.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264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76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Justification for the Hybrid Security Model</a:t>
            </a:r>
          </a:p>
          <a:p>
            <a:pPr algn="l">
              <a:lnSpc>
                <a:spcPts val="1064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29656"/>
            <a:ext cx="16230600" cy="359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Centralized Control ensures consistent enforcement of global security policies.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Decentralized Regional Security Officers (RSOs) handle country-specific compliance and regulatory challenges.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Legacy System Considerations: The hybrid model allows secure integration between legacy and cloud systems.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Threat Landscape Justification: A hybrid SOC ensures 24/7 monitoring across time zones to detect &amp; respond to global threats.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Regulatory Compliance: The combination of central governance and local enforcement ensures adherence to international and country-specific regulations.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393" y="1871872"/>
            <a:ext cx="15855214" cy="5747515"/>
          </a:xfrm>
          <a:custGeom>
            <a:avLst/>
            <a:gdLst/>
            <a:ahLst/>
            <a:cxnLst/>
            <a:rect r="r" b="b" t="t" l="l"/>
            <a:pathLst>
              <a:path h="5747515" w="15855214">
                <a:moveTo>
                  <a:pt x="0" y="0"/>
                </a:moveTo>
                <a:lnTo>
                  <a:pt x="15855214" y="0"/>
                </a:lnTo>
                <a:lnTo>
                  <a:pt x="15855214" y="5747515"/>
                </a:lnTo>
                <a:lnTo>
                  <a:pt x="0" y="574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30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76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Cybersecurity Performance 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29656"/>
            <a:ext cx="16230600" cy="5199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CISO-Level Metrics (Strategic Oversight)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Board Engagement: % of meetings where cybersecurity risks are discussed.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Regulatory Compliance Score: % adherence to PCI-DSS, GDPR, SOX, etc.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 Incident Reduction: % decrease in breaches year-over-year.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Security Governance &amp; Compliance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Audit Pass Rate: % of successful audits without findings.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Policy Violation Rate: Number of detected and remediated policy breaches.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Assessment Score: % of high-risk areas mitigated post-assessment.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Threat Intelligence &amp; Incident Response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Threat Detection Time (MTTD): Time taken to detect emerging cyber threats.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Threat Mitigation Rate: % of threats neutralized before exploitation.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Incident Containment Time: Time taken to isolate and remediate threats.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30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76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 SOC &amp; Operational 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29656"/>
            <a:ext cx="16230600" cy="5199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SOC (Security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Operations Center) Metrics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ean Time to Detect (MTTD): Time taken to identify a security event.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Mean Time to Respond (MTTR): Time to contain and remediate incidents.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False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Positive Rate: % of false alerts in SIEM logs.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IAM (Identity &amp; Access Management) Metrics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Privileged Access Violations: Number of unauthorized access attempts.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i-Factor Authentication (MFA) Adoption Rate: % of employees using MFA.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Provisioning Time: Time taken to grant or revoke system access.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Security Architecture &amp; Engineering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Patch Management Efficiency: % of systems patched within SLA timelines.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Zero Trust Implementation Progress: % of systems enforcing least privilege access.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Legacy System Security Score: Assessment of security posture in legacy environments.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050" y="0"/>
            <a:ext cx="18704793" cy="10504123"/>
          </a:xfrm>
          <a:custGeom>
            <a:avLst/>
            <a:gdLst/>
            <a:ahLst/>
            <a:cxnLst/>
            <a:rect r="r" b="b" t="t" l="l"/>
            <a:pathLst>
              <a:path h="10504123" w="18704793">
                <a:moveTo>
                  <a:pt x="0" y="0"/>
                </a:moveTo>
                <a:lnTo>
                  <a:pt x="18704792" y="0"/>
                </a:lnTo>
                <a:lnTo>
                  <a:pt x="18704792" y="10504123"/>
                </a:lnTo>
                <a:lnTo>
                  <a:pt x="0" y="10504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09" r="0" b="-930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363088"/>
            <a:ext cx="16908116" cy="14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Security Policy and Implementation Strategy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30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76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Enterprise Cybersecurity Policy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29656"/>
            <a:ext cx="16230600" cy="439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Policy Title: Enter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prise Cybersecurity Policy (SEC-001)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Approval Authority: Chief Information Security Officer (CISO)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Scope: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employees, contractors, and third-party vendors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IT infrastructure (cloud + legacy mainframes)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processing, storage, and transmission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Background &amp; Challenges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Operates in 30+ countries with legacy &amp; modern IT systems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Must comply with PCI-DSS, GDPR, SOX, and local banking laws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 fragmentation due to multiple acquisitions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6930191" cy="130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76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 Training &amp; Awareness Programs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29656"/>
            <a:ext cx="16230600" cy="439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S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ecurity Awareness Training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Mandatory for all employees &amp; contractors.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Covers phishing threats, social engineering, &amp; access controls.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Conducted quarterly with assessments.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Incident Response Drills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Simulated cyberattacks for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response preparedness.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 team vs. blue team exercises for SOC &amp; IT staff.</a:t>
            </a: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Compliance Workshops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Regular sessions to align with PCI-DSS, GDPR, SOX, and local laws.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Training for leadership on risk assessment and reporting.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872664" y="3377773"/>
          <a:ext cx="5836155" cy="5200650"/>
        </p:xfrm>
        <a:graphic>
          <a:graphicData uri="http://schemas.openxmlformats.org/drawingml/2006/table">
            <a:tbl>
              <a:tblPr/>
              <a:tblGrid>
                <a:gridCol w="2440826"/>
                <a:gridCol w="2551745"/>
                <a:gridCol w="843584"/>
              </a:tblGrid>
              <a:tr h="8715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Timeline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2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Phase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Risk Assessment &amp; Policy Drafting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Month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2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Phase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SIEM &amp; Endpoint Security Rollout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 Months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2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Phase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Compliance Alignment &amp; 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 Months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2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Phase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Full Implementation &amp; Audit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9-12 Months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7437304" y="3642676"/>
            <a:ext cx="9249346" cy="4370316"/>
          </a:xfrm>
          <a:custGeom>
            <a:avLst/>
            <a:gdLst/>
            <a:ahLst/>
            <a:cxnLst/>
            <a:rect r="r" b="b" t="t" l="l"/>
            <a:pathLst>
              <a:path h="4370316" w="9249346">
                <a:moveTo>
                  <a:pt x="0" y="0"/>
                </a:moveTo>
                <a:lnTo>
                  <a:pt x="9249345" y="0"/>
                </a:lnTo>
                <a:lnTo>
                  <a:pt x="9249345" y="4370316"/>
                </a:lnTo>
                <a:lnTo>
                  <a:pt x="0" y="437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6300"/>
            <a:ext cx="16930191" cy="130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76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Timeline for Establishing the Security Program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B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243572" y="2325138"/>
          <a:ext cx="7315200" cy="41148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Estimated Cost (% of Budget)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Personnel (SOC, IT Security, Compliance)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Tools &amp; Technologies (SIEM, ZTA, DLP)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Security Training &amp; Awareness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Compliance &amp; Audits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876300"/>
            <a:ext cx="16930191" cy="130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7600" b="true">
                <a:solidFill>
                  <a:srgbClr val="FFFFFF"/>
                </a:solidFill>
                <a:latin typeface="TT Octosquares Compressed Bold"/>
                <a:ea typeface="TT Octosquares Compressed Bold"/>
                <a:cs typeface="TT Octosquares Compressed Bold"/>
                <a:sym typeface="TT Octosquares Compressed Bold"/>
              </a:rPr>
              <a:t>Budget Allocation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859356"/>
            <a:ext cx="16230600" cy="23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🔹 Cos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 Justification: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Personnel: Continuous threat monitoring &amp; risk mitigation.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echnology: Modernizing fragmented security architectu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Training: 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educing human error &amp; insider threats.</a:t>
            </a:r>
          </a:p>
          <a:p>
            <a:pPr algn="l" marL="497302" indent="-248651" lvl="1">
              <a:lnSpc>
                <a:spcPts val="3224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Compliance: Avoiding regulatory fines &amp; legal issues.</a:t>
            </a:r>
          </a:p>
          <a:p>
            <a:pPr algn="l">
              <a:lnSpc>
                <a:spcPts val="3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24710" y="458184"/>
            <a:ext cx="306065" cy="336000"/>
          </a:xfrm>
          <a:custGeom>
            <a:avLst/>
            <a:gdLst/>
            <a:ahLst/>
            <a:cxnLst/>
            <a:rect r="r" b="b" t="t" l="l"/>
            <a:pathLst>
              <a:path h="336000" w="306065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972" y="439904"/>
            <a:ext cx="253149" cy="354280"/>
          </a:xfrm>
          <a:custGeom>
            <a:avLst/>
            <a:gdLst/>
            <a:ahLst/>
            <a:cxnLst/>
            <a:rect r="r" b="b" t="t" l="l"/>
            <a:pathLst>
              <a:path h="354280" w="253149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43386" y="4189844"/>
            <a:ext cx="1218296" cy="1907312"/>
          </a:xfrm>
          <a:custGeom>
            <a:avLst/>
            <a:gdLst/>
            <a:ahLst/>
            <a:cxnLst/>
            <a:rect r="r" b="b" t="t" l="l"/>
            <a:pathLst>
              <a:path h="1907312" w="1218296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89294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33497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02741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6981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9108" y="517674"/>
            <a:ext cx="1284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Studio Shodwe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61681" y="3220694"/>
            <a:ext cx="10164638" cy="3464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2"/>
              </a:lnSpc>
              <a:spcBef>
                <a:spcPct val="0"/>
              </a:spcBef>
            </a:pPr>
            <a:r>
              <a:rPr lang="en-US" sz="20287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THANK YOU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105520" y="4471286"/>
            <a:ext cx="858754" cy="1344429"/>
          </a:xfrm>
          <a:custGeom>
            <a:avLst/>
            <a:gdLst/>
            <a:ahLst/>
            <a:cxnLst/>
            <a:rect r="r" b="b" t="t" l="l"/>
            <a:pathLst>
              <a:path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90081" y="4650573"/>
            <a:ext cx="629715" cy="985855"/>
          </a:xfrm>
          <a:custGeom>
            <a:avLst/>
            <a:gdLst/>
            <a:ahLst/>
            <a:cxnLst/>
            <a:rect r="r" b="b" t="t" l="l"/>
            <a:pathLst>
              <a:path h="985855" w="629715">
                <a:moveTo>
                  <a:pt x="0" y="0"/>
                </a:moveTo>
                <a:lnTo>
                  <a:pt x="629714" y="0"/>
                </a:lnTo>
                <a:lnTo>
                  <a:pt x="629714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4226319" y="4189844"/>
            <a:ext cx="1218296" cy="1907312"/>
          </a:xfrm>
          <a:custGeom>
            <a:avLst/>
            <a:gdLst/>
            <a:ahLst/>
            <a:cxnLst/>
            <a:rect r="r" b="b" t="t" l="l"/>
            <a:pathLst>
              <a:path h="1907312" w="1218296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800000">
            <a:off x="15323726" y="4471286"/>
            <a:ext cx="858754" cy="1344429"/>
          </a:xfrm>
          <a:custGeom>
            <a:avLst/>
            <a:gdLst/>
            <a:ahLst/>
            <a:cxnLst/>
            <a:rect r="r" b="b" t="t" l="l"/>
            <a:pathLst>
              <a:path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0800000">
            <a:off x="16268205" y="4650573"/>
            <a:ext cx="629715" cy="985855"/>
          </a:xfrm>
          <a:custGeom>
            <a:avLst/>
            <a:gdLst/>
            <a:ahLst/>
            <a:cxnLst/>
            <a:rect r="r" b="b" t="t" l="l"/>
            <a:pathLst>
              <a:path h="985855" w="629715">
                <a:moveTo>
                  <a:pt x="0" y="0"/>
                </a:moveTo>
                <a:lnTo>
                  <a:pt x="629714" y="0"/>
                </a:lnTo>
                <a:lnTo>
                  <a:pt x="629714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DAGgsHiu3KQ</dc:identifier>
  <dcterms:modified xsi:type="dcterms:W3CDTF">2011-08-01T06:04:30Z</dcterms:modified>
  <cp:revision>1</cp:revision>
  <dc:title>Blue Futuristic Technology Presentation</dc:title>
</cp:coreProperties>
</file>